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9" r:id="rId6"/>
    <p:sldId id="258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4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5E385-FFB6-4256-8D6A-765EE9DBBAA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95431-3908-430D-B5A4-9A6BD331E363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8988ddf8f10e7b4a65f7f7158d3735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4857752" y="0"/>
            <a:ext cx="4857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atin typeface="Cooper Black" pitchFamily="18" charset="0"/>
              </a:rPr>
              <a:t>SENAI – Unidade Videira – SC</a:t>
            </a:r>
          </a:p>
          <a:p>
            <a:r>
              <a:rPr lang="pt-BR" dirty="0" smtClean="0">
                <a:latin typeface="Cooper Black" pitchFamily="18" charset="0"/>
              </a:rPr>
              <a:t>Curso: Programador de Sistemas da Informação</a:t>
            </a:r>
          </a:p>
          <a:p>
            <a:r>
              <a:rPr lang="pt-BR" dirty="0" smtClean="0">
                <a:latin typeface="Cooper Black" pitchFamily="18" charset="0"/>
              </a:rPr>
              <a:t>Disciplina: Lógica de Programação</a:t>
            </a:r>
          </a:p>
          <a:p>
            <a:r>
              <a:rPr lang="pt-BR" dirty="0" smtClean="0">
                <a:latin typeface="Cooper Black" pitchFamily="18" charset="0"/>
              </a:rPr>
              <a:t>Docente: Lucas de Mattos</a:t>
            </a:r>
          </a:p>
          <a:p>
            <a:r>
              <a:rPr lang="pt-BR" dirty="0" smtClean="0">
                <a:latin typeface="Cooper Black" pitchFamily="18" charset="0"/>
              </a:rPr>
              <a:t>Aluno: Allan Derik Boeira Knopf</a:t>
            </a:r>
            <a:endParaRPr lang="pt-BR" dirty="0">
              <a:latin typeface="Cooper Black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71538" y="3286124"/>
            <a:ext cx="7643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latin typeface="Comic Sans MS" pitchFamily="66" charset="0"/>
              </a:rPr>
              <a:t>RELATÓRIO DE BANCO DE DADOS</a:t>
            </a:r>
            <a:endParaRPr lang="pt-BR" sz="2800" dirty="0">
              <a:latin typeface="Comic Sans MS" pitchFamily="66" charset="0"/>
            </a:endParaRPr>
          </a:p>
        </p:txBody>
      </p:sp>
      <p:pic>
        <p:nvPicPr>
          <p:cNvPr id="20482" name="Picture 2" descr="SENAI abre mais de 15 mil vagas para cursos em todo o Brasil. Garanta a  sua! - Agência de Notícias da Indústria"/>
          <p:cNvPicPr>
            <a:picLocks noChangeAspect="1" noChangeArrowheads="1"/>
          </p:cNvPicPr>
          <p:nvPr/>
        </p:nvPicPr>
        <p:blipFill>
          <a:blip r:embed="rId3">
            <a:lum bright="4000" contrast="-12000"/>
          </a:blip>
          <a:srcRect/>
          <a:stretch>
            <a:fillRect/>
          </a:stretch>
        </p:blipFill>
        <p:spPr bwMode="auto">
          <a:xfrm>
            <a:off x="0" y="0"/>
            <a:ext cx="4429156" cy="2494315"/>
          </a:xfrm>
          <a:prstGeom prst="rect">
            <a:avLst/>
          </a:prstGeom>
          <a:blipFill dpi="0" rotWithShape="1">
            <a:blip r:embed="rId4">
              <a:alphaModFix amt="8000"/>
            </a:blip>
            <a:srcRect/>
            <a:tile tx="254000" ty="0" sx="100000" sy="100000" flip="none" algn="tl"/>
          </a:blip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8988ddf8f10e7b4a65f7f7158d3735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286116" y="214290"/>
            <a:ext cx="4000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latin typeface="Bahnschrift SemiBold SemiConden" pitchFamily="34" charset="0"/>
              </a:rPr>
              <a:t>Introdução</a:t>
            </a:r>
            <a:endParaRPr lang="pt-BR" sz="4800" b="1" dirty="0">
              <a:latin typeface="Bahnschrift SemiBold SemiConden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428728" y="1785926"/>
            <a:ext cx="64294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Tx/>
              <a:buChar char="-"/>
            </a:pPr>
            <a:r>
              <a:rPr lang="pt-BR" sz="2000" dirty="0" smtClean="0">
                <a:latin typeface="Bahnschrift SemiBold SemiConden" pitchFamily="34" charset="0"/>
              </a:rPr>
              <a:t>Tipos de Banco de Dados</a:t>
            </a:r>
          </a:p>
          <a:p>
            <a:pPr algn="ctr">
              <a:buFontTx/>
              <a:buChar char="-"/>
            </a:pPr>
            <a:r>
              <a:rPr lang="pt-BR" sz="2000" dirty="0" smtClean="0">
                <a:latin typeface="Bahnschrift SemiBold SemiConden" pitchFamily="34" charset="0"/>
              </a:rPr>
              <a:t> Tabelas</a:t>
            </a:r>
          </a:p>
          <a:p>
            <a:pPr algn="ctr">
              <a:buFontTx/>
              <a:buChar char="-"/>
            </a:pPr>
            <a:r>
              <a:rPr lang="pt-BR" sz="2000" dirty="0" smtClean="0">
                <a:latin typeface="Bahnschrift SemiBold SemiConden" pitchFamily="34" charset="0"/>
              </a:rPr>
              <a:t> Relacionamentos</a:t>
            </a:r>
          </a:p>
          <a:p>
            <a:pPr algn="ctr">
              <a:buFontTx/>
              <a:buChar char="-"/>
            </a:pPr>
            <a:r>
              <a:rPr lang="pt-BR" sz="2000" dirty="0">
                <a:latin typeface="Bahnschrift SemiBold SemiConden" pitchFamily="34" charset="0"/>
              </a:rPr>
              <a:t> </a:t>
            </a:r>
            <a:r>
              <a:rPr lang="pt-BR" sz="2000" dirty="0" smtClean="0">
                <a:latin typeface="Bahnschrift SemiBold SemiConden" pitchFamily="34" charset="0"/>
              </a:rPr>
              <a:t>Views</a:t>
            </a:r>
          </a:p>
          <a:p>
            <a:pPr algn="ctr">
              <a:buFontTx/>
              <a:buChar char="-"/>
            </a:pPr>
            <a:r>
              <a:rPr lang="pt-BR" sz="2000" dirty="0">
                <a:latin typeface="Bahnschrift SemiBold SemiConden" pitchFamily="34" charset="0"/>
              </a:rPr>
              <a:t> </a:t>
            </a:r>
            <a:r>
              <a:rPr lang="pt-BR" sz="2000" dirty="0" smtClean="0">
                <a:latin typeface="Bahnschrift SemiBold SemiConden" pitchFamily="34" charset="0"/>
              </a:rPr>
              <a:t>Procedures</a:t>
            </a:r>
          </a:p>
          <a:p>
            <a:pPr algn="ctr">
              <a:buFontTx/>
              <a:buChar char="-"/>
            </a:pPr>
            <a:r>
              <a:rPr lang="pt-BR" sz="2000" dirty="0">
                <a:latin typeface="Bahnschrift SemiBold SemiConden" pitchFamily="34" charset="0"/>
              </a:rPr>
              <a:t> </a:t>
            </a:r>
            <a:r>
              <a:rPr lang="pt-BR" sz="2000" dirty="0" smtClean="0">
                <a:latin typeface="Bahnschrift SemiBold SemiConden" pitchFamily="34" charset="0"/>
              </a:rPr>
              <a:t>Triggers</a:t>
            </a:r>
          </a:p>
          <a:p>
            <a:pPr algn="ctr">
              <a:buFontTx/>
              <a:buChar char="-"/>
            </a:pPr>
            <a:r>
              <a:rPr lang="pt-BR" sz="2000" dirty="0">
                <a:latin typeface="Bahnschrift SemiBold SemiConden" pitchFamily="34" charset="0"/>
              </a:rPr>
              <a:t> </a:t>
            </a:r>
            <a:r>
              <a:rPr lang="pt-BR" sz="2000" dirty="0" smtClean="0">
                <a:latin typeface="Bahnschrift SemiBold SemiConden" pitchFamily="34" charset="0"/>
              </a:rPr>
              <a:t>Principais Recursos</a:t>
            </a:r>
          </a:p>
          <a:p>
            <a:pPr algn="ctr">
              <a:buFontTx/>
              <a:buChar char="-"/>
            </a:pPr>
            <a:r>
              <a:rPr lang="pt-BR" sz="2000" dirty="0">
                <a:latin typeface="Bahnschrift SemiBold SemiConden" pitchFamily="34" charset="0"/>
              </a:rPr>
              <a:t> </a:t>
            </a:r>
            <a:r>
              <a:rPr lang="pt-BR" sz="2000" dirty="0" smtClean="0">
                <a:latin typeface="Bahnschrift SemiBold SemiConden" pitchFamily="34" charset="0"/>
              </a:rPr>
              <a:t>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8988ddf8f10e7b4a65f7f7158d3735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0" y="1643050"/>
            <a:ext cx="892971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MySQL:</a:t>
            </a:r>
            <a:r>
              <a:rPr lang="pt-BR" dirty="0"/>
              <a:t> SGBD relacional muito utilizado no mercado, escolhido para realizar as atividades da disciplina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Modelo relacional:</a:t>
            </a:r>
            <a:r>
              <a:rPr lang="pt-BR" dirty="0"/>
              <a:t> Organiza as informações em tabelas com linhas e colunas, como Clientes, Produtos e Pedidos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Facilidade de uso:</a:t>
            </a:r>
            <a:r>
              <a:rPr lang="pt-BR" dirty="0"/>
              <a:t> Permite aprender e executar comandos SQL de forma prática e direta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Comandos SQL:</a:t>
            </a:r>
            <a:r>
              <a:rPr lang="pt-BR" dirty="0"/>
              <a:t> Utilizamos CREATE TABLE, INSERT, SELECT, UPDATE e DELETE para criar, consultar, inserir, atualizar e excluir dados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Chaves primárias (PK) e estrangeiras (FK):</a:t>
            </a:r>
            <a:r>
              <a:rPr lang="pt-BR" dirty="0"/>
              <a:t> Conectam tabelas e ajudam a manter a integridade dos dados, como relacionar pedidos aos clientes pelo ID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Automações:</a:t>
            </a:r>
            <a:r>
              <a:rPr lang="pt-BR" dirty="0"/>
              <a:t> Utilizamos recursos como Views, Procedures e Triggers para facilitar tarefas e automatizar operações no banco de dados.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2643174" y="500042"/>
            <a:ext cx="4714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>
                <a:latin typeface="Bahnschrift SemiBold SemiConden" pitchFamily="34" charset="0"/>
              </a:rPr>
              <a:t>Tipos de Banco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8988ddf8f10e7b4a65f7f7158d3735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714480" y="285728"/>
            <a:ext cx="6072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latin typeface="Bahnschrift SemiBold SemiConden" pitchFamily="34" charset="0"/>
              </a:rPr>
              <a:t>Principais tabelas utilizadas</a:t>
            </a:r>
            <a:endParaRPr lang="pt-BR" sz="4000" dirty="0">
              <a:latin typeface="Bahnschrift SemiBold SemiConden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714348" y="1214422"/>
            <a:ext cx="378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 </a:t>
            </a:r>
            <a:r>
              <a:rPr lang="pt-BR" b="1" dirty="0"/>
              <a:t>Clientes:</a:t>
            </a:r>
            <a:r>
              <a:rPr lang="pt-BR" dirty="0"/>
              <a:t> Armazena os dados dos clientes, como nome, CPF, telefone e endereço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714348" y="2285992"/>
            <a:ext cx="3857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- </a:t>
            </a:r>
            <a:r>
              <a:rPr lang="pt-BR" b="1" dirty="0"/>
              <a:t>Compras:</a:t>
            </a:r>
            <a:r>
              <a:rPr lang="pt-BR" dirty="0"/>
              <a:t> Armazena informações sobre as compras realizadas, como data, valor e produtos </a:t>
            </a:r>
            <a:r>
              <a:rPr lang="pt-BR" dirty="0" smtClean="0"/>
              <a:t>adquiridos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642910" y="3286124"/>
            <a:ext cx="3357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 </a:t>
            </a:r>
            <a:r>
              <a:rPr lang="pt-BR" b="1" dirty="0"/>
              <a:t>Pedidos:</a:t>
            </a:r>
            <a:r>
              <a:rPr lang="pt-BR" dirty="0"/>
              <a:t> Armazena os pedidos feitos pelos clientes, incluindo data, status e valor total.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14348" y="4357694"/>
            <a:ext cx="3429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Fornecedores:</a:t>
            </a:r>
            <a:r>
              <a:rPr lang="pt-BR" dirty="0"/>
              <a:t> Armazena os dados dos fornecedores, como nome, CNPJ, telefone e endereço.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571472" y="5429264"/>
            <a:ext cx="3643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Produtos:</a:t>
            </a:r>
            <a:r>
              <a:rPr lang="pt-BR" dirty="0"/>
              <a:t> Armazena informações dos produtos, como nome, preço, quantidade em estoque e descrição.</a:t>
            </a:r>
          </a:p>
        </p:txBody>
      </p:sp>
      <p:cxnSp>
        <p:nvCxnSpPr>
          <p:cNvPr id="14" name="Conector reto 13"/>
          <p:cNvCxnSpPr/>
          <p:nvPr/>
        </p:nvCxnSpPr>
        <p:spPr>
          <a:xfrm flipV="1">
            <a:off x="642910" y="2143116"/>
            <a:ext cx="7929618" cy="714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 flipV="1">
            <a:off x="642910" y="3214686"/>
            <a:ext cx="7929618" cy="714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 flipV="1">
            <a:off x="642910" y="4214818"/>
            <a:ext cx="7929618" cy="714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 flipV="1">
            <a:off x="642910" y="5286388"/>
            <a:ext cx="7929618" cy="714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5429256" y="1142984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Função:</a:t>
            </a:r>
            <a:r>
              <a:rPr lang="pt-BR" dirty="0"/>
              <a:t> Identificar e manter o cadastro dos clientes.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429256" y="2285992"/>
            <a:ext cx="22860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Função:</a:t>
            </a:r>
            <a:r>
              <a:rPr lang="pt-BR" dirty="0"/>
              <a:t> Registrar e acompanhar as compras.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429256" y="3286124"/>
            <a:ext cx="2786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Função:</a:t>
            </a:r>
            <a:r>
              <a:rPr lang="pt-BR" dirty="0"/>
              <a:t> Controlar os pedidos e acompanhar sua situação.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500694" y="4357694"/>
            <a:ext cx="2928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Função:</a:t>
            </a:r>
            <a:r>
              <a:rPr lang="pt-BR" dirty="0"/>
              <a:t> Registrar as empresas ou pessoas que fornecem os produtos.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572132" y="5500702"/>
            <a:ext cx="2786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Função:</a:t>
            </a:r>
            <a:r>
              <a:rPr lang="pt-BR" dirty="0"/>
              <a:t> Organizar os produtos e controlar o estoque.</a:t>
            </a:r>
          </a:p>
        </p:txBody>
      </p:sp>
      <p:cxnSp>
        <p:nvCxnSpPr>
          <p:cNvPr id="27" name="Conector reto 26"/>
          <p:cNvCxnSpPr/>
          <p:nvPr/>
        </p:nvCxnSpPr>
        <p:spPr>
          <a:xfrm rot="5400000">
            <a:off x="2000232" y="3786190"/>
            <a:ext cx="5572164" cy="15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8988ddf8f10e7b4a65f7f7158d3735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786050" y="285728"/>
            <a:ext cx="4000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latin typeface="Bahnschrift SemiBold SemiConden" pitchFamily="34" charset="0"/>
              </a:rPr>
              <a:t>Relacionamentos</a:t>
            </a:r>
            <a:endParaRPr lang="pt-BR" sz="4000" dirty="0">
              <a:latin typeface="Bahnschrift SemiBold SemiConden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642910" y="1285860"/>
            <a:ext cx="38576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latin typeface="Bahnschrift SemiBold Condensed" pitchFamily="34" charset="0"/>
              </a:rPr>
              <a:t>Como as tabelas se relacionam?</a:t>
            </a:r>
          </a:p>
          <a:p>
            <a:endParaRPr lang="pt-BR" sz="2400" dirty="0" smtClean="0">
              <a:latin typeface="Bahnschrift SemiBold Condensed" pitchFamily="34" charset="0"/>
            </a:endParaRPr>
          </a:p>
          <a:p>
            <a:r>
              <a:rPr lang="pt-BR" sz="2400" dirty="0" smtClean="0">
                <a:latin typeface="Bahnschrift SemiBold Condensed" pitchFamily="34" charset="0"/>
              </a:rPr>
              <a:t>Compras → Fornecedores</a:t>
            </a:r>
          </a:p>
          <a:p>
            <a:endParaRPr lang="pt-BR" sz="2400" dirty="0" smtClean="0">
              <a:latin typeface="Bahnschrift SemiBold Condensed" pitchFamily="34" charset="0"/>
            </a:endParaRPr>
          </a:p>
          <a:p>
            <a:r>
              <a:rPr lang="pt-BR" sz="2400" dirty="0" smtClean="0">
                <a:latin typeface="Bahnschrift SemiBold Condensed" pitchFamily="34" charset="0"/>
              </a:rPr>
              <a:t>Compras → Produtos</a:t>
            </a:r>
          </a:p>
          <a:p>
            <a:endParaRPr lang="pt-BR" sz="2400" dirty="0" smtClean="0">
              <a:latin typeface="Bahnschrift SemiBold Condensed" pitchFamily="34" charset="0"/>
            </a:endParaRPr>
          </a:p>
          <a:p>
            <a:r>
              <a:rPr lang="pt-BR" sz="2400" dirty="0" smtClean="0">
                <a:latin typeface="Bahnschrift SemiBold Condensed" pitchFamily="34" charset="0"/>
              </a:rPr>
              <a:t>Pedidos → Clientes</a:t>
            </a:r>
          </a:p>
          <a:p>
            <a:endParaRPr lang="pt-BR" sz="2400" dirty="0" smtClean="0">
              <a:latin typeface="Bahnschrift SemiBold Condensed" pitchFamily="34" charset="0"/>
            </a:endParaRPr>
          </a:p>
          <a:p>
            <a:r>
              <a:rPr lang="pt-BR" sz="2400" dirty="0" smtClean="0">
                <a:latin typeface="Bahnschrift SemiBold Condensed" pitchFamily="34" charset="0"/>
              </a:rPr>
              <a:t>Pedidos → Produtos</a:t>
            </a:r>
            <a:endParaRPr lang="pt-BR" sz="2400" dirty="0">
              <a:latin typeface="Bahnschrift SemiBold Condensed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8988ddf8f10e7b4a65f7f7158d3735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4143372" y="357166"/>
            <a:ext cx="1643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latin typeface="Bahnschrift SemiBold SemiConden" pitchFamily="34" charset="0"/>
              </a:rPr>
              <a:t>Views</a:t>
            </a:r>
            <a:endParaRPr lang="pt-BR" sz="4000" dirty="0">
              <a:latin typeface="Bahnschrift SemiBold SemiConden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285720" y="1643050"/>
            <a:ext cx="40005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Views</a:t>
            </a:r>
            <a:r>
              <a:rPr lang="pt-BR" b="1" dirty="0"/>
              <a:t>:</a:t>
            </a:r>
            <a:r>
              <a:rPr lang="pt-BR" dirty="0"/>
              <a:t> São tabelas virtuais criadas a partir de consultas SQL, que exibem informações de uma ou mais tabelas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Vantagens:</a:t>
            </a:r>
            <a:r>
              <a:rPr lang="pt-BR" dirty="0"/>
              <a:t> Facilitam consultas, reduzem a repetição de comandos, organizam os dados e ajudam a controlar o acesso às informações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Exemplo:</a:t>
            </a:r>
            <a:r>
              <a:rPr lang="pt-BR" dirty="0"/>
              <a:t> Criar uma </a:t>
            </a:r>
            <a:r>
              <a:rPr lang="pt-BR" dirty="0" err="1"/>
              <a:t>View</a:t>
            </a:r>
            <a:r>
              <a:rPr lang="pt-BR" dirty="0"/>
              <a:t> que mostra os pedidos dos clientes com os nomes dos produtos e os valores das compras.</a:t>
            </a:r>
          </a:p>
          <a:p>
            <a:endParaRPr lang="pt-BR" dirty="0"/>
          </a:p>
        </p:txBody>
      </p:sp>
      <p:pic>
        <p:nvPicPr>
          <p:cNvPr id="8194" name="Picture 2" descr="500+ Imagens de banco de dados | Baixar imagens grátis no Unsplash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9" y="1714488"/>
            <a:ext cx="4500562" cy="34766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8988ddf8f10e7b4a65f7f7158d3735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714744" y="214290"/>
            <a:ext cx="2571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latin typeface="Bahnschrift SemiBold SemiConden" pitchFamily="34" charset="0"/>
              </a:rPr>
              <a:t>Procedures</a:t>
            </a:r>
            <a:endParaRPr lang="pt-BR" sz="4000" dirty="0">
              <a:latin typeface="Bahnschrift SemiBold SemiConden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57158" y="1928802"/>
            <a:ext cx="41434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Procedures (Procedimentos Armazenados):</a:t>
            </a:r>
            <a:r>
              <a:rPr lang="pt-BR" dirty="0"/>
              <a:t> São blocos de comandos SQL salvos no banco de dados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Vantagens:</a:t>
            </a:r>
            <a:r>
              <a:rPr lang="pt-BR" dirty="0"/>
              <a:t> Automatizam tarefas repetitivas, reutilizam comandos e facilitam a execução de operações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Exemplo:</a:t>
            </a:r>
            <a:r>
              <a:rPr lang="pt-BR" dirty="0"/>
              <a:t> Cadastrar novos clientes sem precisar digitar o comando INSERT toda vez.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5715008" y="2143116"/>
            <a:ext cx="29289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Procedures desenvolvidas:</a:t>
            </a:r>
          </a:p>
          <a:p>
            <a:endParaRPr lang="pt-BR" dirty="0" smtClean="0"/>
          </a:p>
          <a:p>
            <a:r>
              <a:rPr lang="pt-BR" dirty="0" err="1" smtClean="0"/>
              <a:t>p_inserir_cliente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p_inserir_produto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p_inserir_pedidos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p_inserir_compras</a:t>
            </a:r>
            <a:endParaRPr lang="pt-BR" dirty="0"/>
          </a:p>
        </p:txBody>
      </p:sp>
      <p:cxnSp>
        <p:nvCxnSpPr>
          <p:cNvPr id="9" name="Conector reto 8"/>
          <p:cNvCxnSpPr/>
          <p:nvPr/>
        </p:nvCxnSpPr>
        <p:spPr>
          <a:xfrm rot="5400000">
            <a:off x="2643174" y="3429000"/>
            <a:ext cx="4572032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8988ddf8f10e7b4a65f7f7158d3735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714744" y="214290"/>
            <a:ext cx="2571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latin typeface="Bahnschrift SemiBold SemiConden" pitchFamily="34" charset="0"/>
              </a:rPr>
              <a:t>Triggers</a:t>
            </a:r>
            <a:endParaRPr lang="pt-BR" sz="4000" dirty="0">
              <a:latin typeface="Bahnschrift SemiBold SemiConden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285720" y="1571612"/>
            <a:ext cx="41434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Triggers (Gatilhos):</a:t>
            </a:r>
            <a:r>
              <a:rPr lang="pt-BR" dirty="0"/>
              <a:t> São comandos SQL executados automaticamente quando ocorre uma ação no banco de dados, como INSERT, UPDATE ou DELETE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Vantagens:</a:t>
            </a:r>
            <a:r>
              <a:rPr lang="pt-BR" dirty="0"/>
              <a:t> Automatizam tarefas, mantêm a integridade dos dados e reduzem erros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Exemplo:</a:t>
            </a:r>
            <a:r>
              <a:rPr lang="pt-BR" dirty="0"/>
              <a:t> Atualizar automaticamente o estoque quando um produto é vendido.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5500694" y="1357298"/>
            <a:ext cx="30003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Utilizações:</a:t>
            </a:r>
          </a:p>
          <a:p>
            <a:endParaRPr lang="pt-BR" dirty="0" smtClean="0"/>
          </a:p>
          <a:p>
            <a:r>
              <a:rPr lang="pt-BR" dirty="0" smtClean="0"/>
              <a:t>Registrar novos clientes em uma tabela de </a:t>
            </a:r>
            <a:r>
              <a:rPr lang="pt-BR" dirty="0" err="1" smtClean="0"/>
              <a:t>log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Registrar novos fornecedores</a:t>
            </a:r>
          </a:p>
          <a:p>
            <a:endParaRPr lang="pt-BR" dirty="0" smtClean="0"/>
          </a:p>
          <a:p>
            <a:r>
              <a:rPr lang="pt-BR" dirty="0" smtClean="0"/>
              <a:t>Atualizar o estoque automaticamente</a:t>
            </a:r>
          </a:p>
          <a:p>
            <a:endParaRPr lang="pt-BR" dirty="0" smtClean="0"/>
          </a:p>
          <a:p>
            <a:r>
              <a:rPr lang="pt-BR" dirty="0" smtClean="0"/>
              <a:t>Evitar processos manuais</a:t>
            </a:r>
            <a:endParaRPr lang="pt-BR" dirty="0"/>
          </a:p>
        </p:txBody>
      </p:sp>
      <p:cxnSp>
        <p:nvCxnSpPr>
          <p:cNvPr id="9" name="Conector reto 8"/>
          <p:cNvCxnSpPr/>
          <p:nvPr/>
        </p:nvCxnSpPr>
        <p:spPr>
          <a:xfrm rot="5400000">
            <a:off x="2751125" y="3035297"/>
            <a:ext cx="392909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8988ddf8f10e7b4a65f7f7158d3735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928926" y="214290"/>
            <a:ext cx="4572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latin typeface="Bahnschrift SemiBold SemiConden" pitchFamily="34" charset="0"/>
              </a:rPr>
              <a:t>Principais Recursos</a:t>
            </a:r>
            <a:endParaRPr lang="pt-BR" sz="4000" dirty="0">
              <a:latin typeface="Bahnschrift SemiBold SemiConden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42844" y="948690"/>
            <a:ext cx="800105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Recursos utilizados no MySQL</a:t>
            </a:r>
          </a:p>
          <a:p>
            <a:endParaRPr lang="pt-BR" b="1" dirty="0" smtClean="0"/>
          </a:p>
          <a:p>
            <a:r>
              <a:rPr lang="pt-BR" b="1" dirty="0" smtClean="0"/>
              <a:t>Tabelas: armazenam os dados</a:t>
            </a:r>
          </a:p>
          <a:p>
            <a:endParaRPr lang="pt-BR" b="1" dirty="0" smtClean="0"/>
          </a:p>
          <a:p>
            <a:r>
              <a:rPr lang="pt-BR" b="1" dirty="0" smtClean="0"/>
              <a:t>Chaves: identificam e relacionam registros</a:t>
            </a:r>
          </a:p>
          <a:p>
            <a:endParaRPr lang="pt-BR" b="1" dirty="0" smtClean="0"/>
          </a:p>
          <a:p>
            <a:r>
              <a:rPr lang="pt-BR" b="1" dirty="0" smtClean="0"/>
              <a:t>INSERT: insere dados</a:t>
            </a:r>
          </a:p>
          <a:p>
            <a:endParaRPr lang="pt-BR" b="1" dirty="0" smtClean="0"/>
          </a:p>
          <a:p>
            <a:r>
              <a:rPr lang="pt-BR" b="1" dirty="0" smtClean="0"/>
              <a:t>SELECT: consulta dados</a:t>
            </a:r>
          </a:p>
          <a:p>
            <a:endParaRPr lang="pt-BR" b="1" dirty="0" smtClean="0"/>
          </a:p>
          <a:p>
            <a:r>
              <a:rPr lang="pt-BR" b="1" dirty="0" smtClean="0"/>
              <a:t>UPDATE: altera dados</a:t>
            </a:r>
          </a:p>
          <a:p>
            <a:endParaRPr lang="pt-BR" b="1" dirty="0" smtClean="0"/>
          </a:p>
          <a:p>
            <a:r>
              <a:rPr lang="pt-BR" b="1" dirty="0" smtClean="0"/>
              <a:t>DELETE: exclui dados</a:t>
            </a:r>
          </a:p>
          <a:p>
            <a:endParaRPr lang="pt-BR" b="1" dirty="0" smtClean="0"/>
          </a:p>
          <a:p>
            <a:r>
              <a:rPr lang="pt-BR" b="1" dirty="0" smtClean="0"/>
              <a:t>JOIN: relaciona tabelas</a:t>
            </a:r>
          </a:p>
          <a:p>
            <a:endParaRPr lang="pt-BR" b="1" dirty="0" smtClean="0"/>
          </a:p>
          <a:p>
            <a:r>
              <a:rPr lang="pt-BR" b="1" dirty="0" smtClean="0"/>
              <a:t>VIEW: salva consultas</a:t>
            </a:r>
          </a:p>
          <a:p>
            <a:endParaRPr lang="pt-BR" b="1" dirty="0" smtClean="0"/>
          </a:p>
          <a:p>
            <a:r>
              <a:rPr lang="pt-BR" b="1" dirty="0" smtClean="0"/>
              <a:t>PROCEDURE: automatiza tarefas</a:t>
            </a:r>
          </a:p>
          <a:p>
            <a:endParaRPr lang="pt-BR" b="1" dirty="0" smtClean="0"/>
          </a:p>
          <a:p>
            <a:r>
              <a:rPr lang="pt-BR" b="1" dirty="0" smtClean="0"/>
              <a:t>TRIGGER: executa ações automáticas</a:t>
            </a:r>
            <a:endParaRPr lang="pt-BR" dirty="0"/>
          </a:p>
        </p:txBody>
      </p:sp>
      <p:pic>
        <p:nvPicPr>
          <p:cNvPr id="2050" name="Picture 2" descr="SQL views. Vamos aprender a criar, usar, bloquear… | by Daniel Amorim | Mediu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2428868"/>
            <a:ext cx="5072066" cy="35575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8988ddf8f10e7b4a65f7f7158d3735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714744" y="142852"/>
            <a:ext cx="3286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latin typeface="Bahnschrift SemiBold SemiConden" pitchFamily="34" charset="0"/>
              </a:rPr>
              <a:t>Conclusão</a:t>
            </a:r>
            <a:endParaRPr lang="pt-BR" sz="4000" dirty="0">
              <a:latin typeface="Bahnschrift SemiBold SemiConden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357290" y="2143116"/>
            <a:ext cx="65008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As atividades da disciplina de Lógica de Programação e Banco de Dados permitiram aprender a organizar e manipular dados usando o MySQL, desde a criação de tabelas até o uso de Views, Procedures e Triggers. Esses conhecimentos são importantes para a formação de Programador de Sistemas de Informação, pois ajudam a desenvolver sistemas mais organizados, rápidos, seguros e eficientes.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71</TotalTime>
  <Words>658</Words>
  <Application>Microsoft Office PowerPoint</Application>
  <PresentationFormat>Apresentação na tela (4:3)</PresentationFormat>
  <Paragraphs>108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cp:lastModifiedBy>Aluno</cp:lastModifiedBy>
  <cp:revision>1</cp:revision>
  <dcterms:created xsi:type="dcterms:W3CDTF">2026-10-15T17:48:10Z</dcterms:created>
  <dcterms:modified xsi:type="dcterms:W3CDTF">2026-10-15T18:59:59Z</dcterms:modified>
</cp:coreProperties>
</file>